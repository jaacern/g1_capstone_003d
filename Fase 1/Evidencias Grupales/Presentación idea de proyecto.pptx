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UuIzO8tMtceXpHYNSqX+kAkqX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Juan.</a:t>
            </a:r>
            <a:br>
              <a:rPr lang="en-US"/>
            </a:br>
            <a:br>
              <a:rPr lang="en-US"/>
            </a:br>
            <a:r>
              <a:rPr lang="en-US"/>
              <a:t>Buenas tardes. Somos Juan, Benjamín y Javier, y vamos a presentar AgeCare, una plataforma de cuidado de adultos mayores que estamos desarrollando junto a la empresa Alloxentric.</a:t>
            </a:r>
            <a:br>
              <a:rPr lang="en-US"/>
            </a:br>
            <a:br>
              <a:rPr lang="en-US"/>
            </a:br>
            <a:r>
              <a:rPr lang="en-US"/>
              <a:t>En los próximos minutos vamos a contarles qué problema resuelve, cómo lo vamos a construir, con qué tecnología y en qué plazos.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Juan.</a:t>
            </a:r>
            <a:br>
              <a:rPr lang="en-US"/>
            </a:br>
            <a:br>
              <a:rPr lang="en-US"/>
            </a:br>
            <a:r>
              <a:rPr lang="en-US"/>
              <a:t>AgeCare no es una app por persona: es un solo sistema con cuatro vistas distintas sobre la misma información del paciente.</a:t>
            </a:r>
            <a:br>
              <a:rPr lang="en-US"/>
            </a:br>
            <a:br>
              <a:rPr lang="en-US"/>
            </a:br>
            <a:r>
              <a:rPr lang="en-US"/>
              <a:t>El principio que ordena todo el diseño es: el familiar observa, la cuidadora opera, el médico prescribe y el adulto mayor se comunica. Cada uno ve solo lo que le corresponde.</a:t>
            </a:r>
            <a:br>
              <a:rPr lang="en-US"/>
            </a:br>
            <a:br>
              <a:rPr lang="en-US"/>
            </a:br>
            <a:r>
              <a:rPr lang="en-US"/>
              <a:t>Lo importante es que el adulto mayor no es un objeto de monitoreo, es un usuario activo con su propia vista.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Benjamín.</a:t>
            </a:r>
            <a:br>
              <a:rPr lang="en-US"/>
            </a:br>
            <a:br>
              <a:rPr lang="en-US"/>
            </a:br>
            <a:r>
              <a:rPr lang="en-US"/>
              <a:t>Hoy cuidar a un adulto mayor a distancia se hace con herramientas que no fueron pensadas para eso.</a:t>
            </a:r>
            <a:br>
              <a:rPr lang="en-US"/>
            </a:br>
            <a:br>
              <a:rPr lang="en-US"/>
            </a:br>
            <a:r>
              <a:rPr lang="en-US"/>
              <a:t>Y esto tiene consecuencias concretas: una dosis que no se administró pasa desapercibida, una caída se avisa por teléfono si hay alguien cerca, y el médico prescribe sin saber si el tratamiento se está cumpliendo.</a:t>
            </a:r>
            <a:br>
              <a:rPr lang="en-US"/>
            </a:br>
            <a:br>
              <a:rPr lang="en-US"/>
            </a:br>
            <a:r>
              <a:rPr lang="en-US"/>
              <a:t>En Chile el problema es amplio. Casi 4 millones de personas tienen 60 años o más y cerca de cuatro de cada diez necesitan ayuda para su vida diaria. Esa ayuda la dan las familias, sin apoyo formal.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Benjamín.</a:t>
            </a:r>
            <a:br>
              <a:rPr lang="en-US"/>
            </a:br>
            <a:br>
              <a:rPr lang="en-US"/>
            </a:br>
            <a:r>
              <a:rPr lang="en-US"/>
              <a:t>Nuestra propuesta se organiza en cuatro pilares.</a:t>
            </a:r>
            <a:br>
              <a:rPr lang="en-US"/>
            </a:br>
            <a:br>
              <a:rPr lang="en-US"/>
            </a:br>
            <a:r>
              <a:rPr lang="en-US"/>
              <a:t>Salud: tomamos las mediciones del reloj y lo que registra la cuidadora, y las resumimos en un indicador diario que se entiende de un vistazo.</a:t>
            </a:r>
            <a:br>
              <a:rPr lang="en-US"/>
            </a:br>
            <a:br>
              <a:rPr lang="en-US"/>
            </a:br>
            <a:r>
              <a:rPr lang="en-US"/>
              <a:t>Alertas: es el pilar central. El sistema avisa de inmediato ante una caída, un valor fuera de lo normal o un medicamento no administrado.</a:t>
            </a:r>
            <a:br>
              <a:rPr lang="en-US"/>
            </a:br>
            <a:br>
              <a:rPr lang="en-US"/>
            </a:br>
            <a:r>
              <a:rPr lang="en-US"/>
              <a:t>Comunicación: un chat del círculo de cuidado y un asistente de inteligencia artificial que responde preguntas sobre el historial del paciente.</a:t>
            </a:r>
            <a:br>
              <a:rPr lang="en-US"/>
            </a:br>
            <a:br>
              <a:rPr lang="en-US"/>
            </a:br>
            <a:r>
              <a:rPr lang="en-US"/>
              <a:t>Acompañamiento: la vista del adulto mayor, pensada para usarse por voz.</a:t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Javier.</a:t>
            </a:r>
            <a:br>
              <a:rPr lang="en-US"/>
            </a:br>
            <a:br>
              <a:rPr lang="en-US"/>
            </a:br>
            <a:r>
              <a:rPr lang="en-US"/>
              <a:t>Nuestro objetivo general es desarrollar una plataforma integral que centralice el monitoreo de salud, las alertas, la coordinación y la comunicación entre todos los involucrados.</a:t>
            </a:r>
            <a:br>
              <a:rPr lang="en-US"/>
            </a:br>
            <a:br>
              <a:rPr lang="en-US"/>
            </a:br>
            <a:r>
              <a:rPr lang="en-US"/>
              <a:t>La finalidad tiene dos caras: por un lado dar tranquilidad a la familia que cuida a distancia, y por otro darle al adulto mayor una forma accesible de mantenerse conectado y activo.</a:t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Javier.</a:t>
            </a:r>
            <a:br>
              <a:rPr lang="en-US"/>
            </a:br>
            <a:br>
              <a:rPr lang="en-US"/>
            </a:br>
            <a:r>
              <a:rPr lang="en-US"/>
              <a:t>De ese objetivo general se desprenden cinco objetivos específicos.</a:t>
            </a:r>
            <a:br>
              <a:rPr lang="en-US"/>
            </a:br>
            <a:br>
              <a:rPr lang="en-US"/>
            </a:br>
            <a:r>
              <a:rPr lang="en-US"/>
              <a:t>El primero es el expediente único, que es la base de todo lo demás.</a:t>
            </a:r>
            <a:br>
              <a:rPr lang="en-US"/>
            </a:br>
            <a:br>
              <a:rPr lang="en-US"/>
            </a:br>
            <a:r>
              <a:rPr lang="en-US"/>
              <a:t>El segundo, el sistema de alertas, que es el pilar central del producto.</a:t>
            </a:r>
            <a:br>
              <a:rPr lang="en-US"/>
            </a:br>
            <a:br>
              <a:rPr lang="en-US"/>
            </a:br>
            <a:r>
              <a:rPr lang="en-US"/>
              <a:t>El tercero, el ciclo completo de la medicación, desde que el médico lo indica hasta que se confirma la toma.</a:t>
            </a:r>
            <a:br>
              <a:rPr lang="en-US"/>
            </a:br>
            <a:br>
              <a:rPr lang="en-US"/>
            </a:br>
            <a:r>
              <a:rPr lang="en-US"/>
              <a:t>El cuarto, la comunicación y el asistente de IA.</a:t>
            </a:r>
            <a:br>
              <a:rPr lang="en-US"/>
            </a:br>
            <a:br>
              <a:rPr lang="en-US"/>
            </a:br>
            <a:r>
              <a:rPr lang="en-US"/>
              <a:t>Y el quinto, la vista del adulto mayor.</a:t>
            </a:r>
            <a:br>
              <a:rPr lang="en-US"/>
            </a:br>
            <a:br>
              <a:rPr lang="en-US"/>
            </a:br>
            <a:r>
              <a:rPr lang="en-US"/>
              <a:t>Cada requisito funcional que definimos se puede rastrear a uno de estos cinco objetivos.</a:t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Juan.</a:t>
            </a:r>
            <a:br>
              <a:rPr lang="en-US"/>
            </a:br>
            <a:br>
              <a:rPr lang="en-US"/>
            </a:br>
            <a:r>
              <a:rPr lang="en-US"/>
              <a:t>En cuanto al alcance, para la asignatura desarrollamos el proyecto completo: base de datos, servidor y las aplicaciones móvil y web, cubriendo los cuatro perfiles.</a:t>
            </a:r>
            <a:br>
              <a:rPr lang="en-US"/>
            </a:br>
            <a:br>
              <a:rPr lang="en-US"/>
            </a:br>
            <a:r>
              <a:rPr lang="en-US"/>
              <a:t>Sobre las limitaciones, quiero ser claro en que las identificamos desde el principio y cada una tiene su mitigación.</a:t>
            </a:r>
            <a:br>
              <a:rPr lang="en-US"/>
            </a:br>
            <a:br>
              <a:rPr lang="en-US"/>
            </a:br>
            <a:r>
              <a:rPr lang="en-US"/>
              <a:t>No está definido qué reloj se usará, así que trabajamos con datos simulados, que es lo que propone el mismo plan del proyecto.</a:t>
            </a:r>
            <a:br>
              <a:rPr lang="en-US"/>
            </a:br>
            <a:br>
              <a:rPr lang="en-US"/>
            </a:br>
            <a:r>
              <a:rPr lang="en-US"/>
              <a:t>El módulo de música y los juegos todavía no tienen especificación, así que empezamos por lo que ya está definido y los dejamos para el final.</a:t>
            </a:r>
            <a:br>
              <a:rPr lang="en-US"/>
            </a:br>
            <a:br>
              <a:rPr lang="en-US"/>
            </a:br>
            <a:r>
              <a:rPr lang="en-US"/>
              <a:t>Y el tema de privacidad de datos de salud está pendiente de definición legal, y es algo que ya levantamos con la empresa.</a:t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Benjamín.</a:t>
            </a:r>
            <a:br>
              <a:rPr lang="en-US"/>
            </a:br>
            <a:br>
              <a:rPr lang="en-US"/>
            </a:br>
            <a:r>
              <a:rPr lang="en-US"/>
              <a:t>Trabajamos con un enfoque en cascada, avanzando por cinco etapas ordenadas: requisitos, diseño, construcción, pruebas y despliegue.</a:t>
            </a:r>
            <a:br>
              <a:rPr lang="en-US"/>
            </a:br>
            <a:br>
              <a:rPr lang="en-US"/>
            </a:br>
            <a:r>
              <a:rPr lang="en-US"/>
              <a:t>Evaluamos también un enfoque ágil, pero elegimos cascada por dos razones concretas.</a:t>
            </a:r>
            <a:br>
              <a:rPr lang="en-US"/>
            </a:br>
            <a:br>
              <a:rPr lang="en-US"/>
            </a:br>
            <a:r>
              <a:rPr lang="en-US"/>
              <a:t>La primera es que la parte central del proyecto es la base de datos, y cambiar un esquema que ya tiene información guardada cuesta migración, no es un simple refactor. Conviene tenerla bien pensada antes de construirla.</a:t>
            </a:r>
            <a:br>
              <a:rPr lang="en-US"/>
            </a:br>
            <a:br>
              <a:rPr lang="en-US"/>
            </a:br>
            <a:r>
              <a:rPr lang="en-US"/>
              <a:t>La segunda es que gran parte de los requisitos ya viene documentada por la empresa, así que no necesitamos irlos descubriendo iteración a iteración.</a:t>
            </a:r>
            <a:br>
              <a:rPr lang="en-US"/>
            </a:br>
            <a:br>
              <a:rPr lang="en-US"/>
            </a:br>
            <a:r>
              <a:rPr lang="en-US"/>
              <a:t>Dentro de eso avanzamos por partes: primero lo que ya está definido, y al final lo que todavía tiene definiciones abiertas.</a:t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Javier.</a:t>
            </a:r>
            <a:br>
              <a:rPr lang="en-US"/>
            </a:br>
            <a:br>
              <a:rPr lang="en-US"/>
            </a:br>
            <a:r>
              <a:rPr lang="en-US"/>
              <a:t>En base de datos vamos con PostgreSQL. Lo elegimos porque resuelve en un solo motor las dos naturalezas de datos del sistema: la información relacional con reglas estrictas, y las series temporales del reloj, que pueden ser decenas de miles de registros diarios por paciente.</a:t>
            </a:r>
            <a:br>
              <a:rPr lang="en-US"/>
            </a:br>
            <a:br>
              <a:rPr lang="en-US"/>
            </a:br>
            <a:r>
              <a:rPr lang="en-US"/>
              <a:t>El backend es FastAPI, la app móvil Flutter, y la web React.</a:t>
            </a:r>
            <a:br>
              <a:rPr lang="en-US"/>
            </a:br>
            <a:br>
              <a:rPr lang="en-US"/>
            </a:br>
            <a:r>
              <a:rPr lang="en-US"/>
              <a:t>Un punto que quiero destacar es Drift: es una base de datos local en el teléfono. Nos permite que la aplicación siga funcionando sin conexión y sincronice después, lo cual es clave para el adulto mayor.</a:t>
            </a:r>
            <a:br>
              <a:rPr lang="en-US"/>
            </a:br>
            <a:br>
              <a:rPr lang="en-US"/>
            </a:br>
            <a:r>
              <a:rPr lang="en-US"/>
              <a:t>Y el despliegue va con Docker, para que el entorno sea idéntico en nuestros computadores y en el servidor.</a:t>
            </a:r>
            <a:endParaRPr/>
          </a:p>
        </p:txBody>
      </p:sp>
      <p:sp>
        <p:nvSpPr>
          <p:cNvPr id="188" name="Google Shape;1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Juan.</a:t>
            </a:r>
            <a:br>
              <a:rPr lang="en-US"/>
            </a:br>
            <a:br>
              <a:rPr lang="en-US"/>
            </a:br>
            <a:r>
              <a:rPr lang="en-US"/>
              <a:t>El semestre son 18 semanas y lo dividimos en tres fases de seis semanas cada una.</a:t>
            </a:r>
            <a:br>
              <a:rPr lang="en-US"/>
            </a:br>
            <a:br>
              <a:rPr lang="en-US"/>
            </a:br>
            <a:r>
              <a:rPr lang="en-US"/>
              <a:t>La primera fase es requisitos y diseño: levantar los requisitos, modelar la base de datos y definir la arquitectura.</a:t>
            </a:r>
            <a:br>
              <a:rPr lang="en-US"/>
            </a:br>
            <a:br>
              <a:rPr lang="en-US"/>
            </a:br>
            <a:r>
              <a:rPr lang="en-US"/>
              <a:t>La segunda es construcción: implementar la base de datos, levantar el servidor e integrar las aplicaciones.</a:t>
            </a:r>
            <a:br>
              <a:rPr lang="en-US"/>
            </a:br>
            <a:br>
              <a:rPr lang="en-US"/>
            </a:br>
            <a:r>
              <a:rPr lang="en-US"/>
              <a:t>Y la tercera son las pruebas, el despliegue y la entrega.</a:t>
            </a:r>
            <a:br>
              <a:rPr lang="en-US"/>
            </a:br>
            <a:br>
              <a:rPr lang="en-US"/>
            </a:br>
            <a:r>
              <a:rPr lang="en-US"/>
              <a:t>En cuanto a dedicación, calculamos unas 7 horas semanales por persona entre el taller y el trabajo fuera de clase, lo que da más de 300 horas de trabajo del equipo en el semestre.</a:t>
            </a:r>
            <a:endParaRPr/>
          </a:p>
        </p:txBody>
      </p:sp>
      <p:sp>
        <p:nvSpPr>
          <p:cNvPr id="219" name="Google Shape;21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Presenta: los tres, o quien cierre.</a:t>
            </a:r>
            <a:br>
              <a:rPr lang="en-US"/>
            </a:br>
            <a:br>
              <a:rPr lang="en-US"/>
            </a:br>
            <a:r>
              <a:rPr lang="en-US"/>
              <a:t>Para cerrar, tres ideas.</a:t>
            </a:r>
            <a:br>
              <a:rPr lang="en-US"/>
            </a:br>
            <a:br>
              <a:rPr lang="en-US"/>
            </a:br>
            <a:r>
              <a:rPr lang="en-US"/>
              <a:t>Primero, este es un problema real. No es un caso inventado para la asignatura: son cuatro millones de personas mayores en Chile y familias que hoy cuidan con herramientas improvisadas.</a:t>
            </a:r>
            <a:br>
              <a:rPr lang="en-US"/>
            </a:br>
            <a:br>
              <a:rPr lang="en-US"/>
            </a:br>
            <a:r>
              <a:rPr lang="en-US"/>
              <a:t>Segundo, no partimos de cero. La empresa nos entrega documentación técnica y una aplicación ya construida, pero sin base de datos ni servidor detrás. Eso es exactamente lo que vamos a construir.</a:t>
            </a:r>
            <a:br>
              <a:rPr lang="en-US"/>
            </a:br>
            <a:br>
              <a:rPr lang="en-US"/>
            </a:br>
            <a:r>
              <a:rPr lang="en-US"/>
              <a:t>Y tercero, ya identificamos las dificultades y cada una tiene una forma de abordarla definida de antemano, no vamos a descubrirlas a mitad de camino.</a:t>
            </a:r>
            <a:br>
              <a:rPr lang="en-US"/>
            </a:br>
            <a:br>
              <a:rPr lang="en-US"/>
            </a:br>
            <a:r>
              <a:rPr lang="en-US"/>
              <a:t>Muchas gracias, quedamos atentos a sus consultas.</a:t>
            </a:r>
            <a:endParaRPr/>
          </a:p>
        </p:txBody>
      </p:sp>
      <p:sp>
        <p:nvSpPr>
          <p:cNvPr id="269" name="Google Shape;2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14D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6949440" y="-1371600"/>
            <a:ext cx="3840480" cy="3840480"/>
          </a:xfrm>
          <a:prstGeom prst="ellipse">
            <a:avLst/>
          </a:prstGeom>
          <a:solidFill>
            <a:srgbClr val="028090">
              <a:alpha val="45098"/>
            </a:srgbClr>
          </a:solidFill>
          <a:ln cap="flat" cmpd="sng" w="12700">
            <a:solidFill>
              <a:srgbClr val="0280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955280" y="3108960"/>
            <a:ext cx="2377440" cy="2377440"/>
          </a:xfrm>
          <a:prstGeom prst="ellipse">
            <a:avLst/>
          </a:prstGeom>
          <a:solidFill>
            <a:srgbClr val="00A896">
              <a:alpha val="30196"/>
            </a:srgbClr>
          </a:solidFill>
          <a:ln cap="flat" cmpd="sng" w="12700">
            <a:solidFill>
              <a:srgbClr val="00A896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141732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AgeCare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23317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Plataforma de cuidado de adultos mayores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640080" y="27889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9C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C9CC"/>
                </a:solidFill>
                <a:latin typeface="Calibri"/>
                <a:ea typeface="Calibri"/>
                <a:cs typeface="Calibri"/>
                <a:sym typeface="Calibri"/>
              </a:rPr>
              <a:t>Presentación 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640080" y="3977640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9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9CC"/>
                </a:solidFill>
                <a:latin typeface="Calibri"/>
                <a:ea typeface="Calibri"/>
                <a:cs typeface="Calibri"/>
                <a:sym typeface="Calibri"/>
              </a:rPr>
              <a:t>Capstone · PTY4614 · Ingeniería en Informática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640080" y="4279392"/>
            <a:ext cx="6400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Juan Mora  ·  Benjamín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Camus</a:t>
            </a: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·  Javier </a:t>
            </a: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Cerna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4414D"/>
                </a:solidFill>
                <a:latin typeface="Cambria"/>
                <a:ea typeface="Cambria"/>
                <a:cs typeface="Cambria"/>
                <a:sym typeface="Cambria"/>
              </a:rPr>
              <a:t>Descripción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Un solo sistema, cuatro vistas según quién entra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502920" y="1280160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AgeCare reúne en un solo lugar la información de salud del adulto mayor, avisa a tiempo cuando algo anda mal y mantiene coordinados a quienes lo cuidan.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965960"/>
            <a:ext cx="1874520" cy="2148840"/>
          </a:xfrm>
          <a:prstGeom prst="roundRect">
            <a:avLst>
              <a:gd fmla="val 390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1188720" y="21945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11887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612648" y="2816352"/>
            <a:ext cx="1655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Familiar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612648" y="3127248"/>
            <a:ext cx="16550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Observa el estado 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salud y recibe las alertas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560320" y="1965960"/>
            <a:ext cx="1874520" cy="2148840"/>
          </a:xfrm>
          <a:prstGeom prst="roundRect">
            <a:avLst>
              <a:gd fmla="val 390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46120" y="2194560"/>
            <a:ext cx="502920" cy="5029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32461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2670048" y="2816352"/>
            <a:ext cx="1655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Cuidadora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2670048" y="3127248"/>
            <a:ext cx="16550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Registra el día a día: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dosis, observaciones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617720" y="1965960"/>
            <a:ext cx="1874520" cy="2148840"/>
          </a:xfrm>
          <a:prstGeom prst="roundRect">
            <a:avLst>
              <a:gd fmla="val 390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303520" y="2194560"/>
            <a:ext cx="502920" cy="502920"/>
          </a:xfrm>
          <a:prstGeom prst="ellipse">
            <a:avLst/>
          </a:prstGeom>
          <a:solidFill>
            <a:srgbClr val="0B6E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53035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4727448" y="2816352"/>
            <a:ext cx="1655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Médico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4727448" y="3127248"/>
            <a:ext cx="16550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Define y ajusta el plan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de medicamentos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675120" y="1965960"/>
            <a:ext cx="1874520" cy="2148840"/>
          </a:xfrm>
          <a:prstGeom prst="roundRect">
            <a:avLst>
              <a:gd fmla="val 390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7360920" y="219456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7360920" y="2194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6784848" y="2816352"/>
            <a:ext cx="16550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Adulto mayor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 txBox="1"/>
          <p:nvPr/>
        </p:nvSpPr>
        <p:spPr>
          <a:xfrm>
            <a:off x="6784848" y="3127248"/>
            <a:ext cx="16550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Se comunica, ve fotos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y crea música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4414D"/>
                </a:solidFill>
                <a:latin typeface="Cambria"/>
                <a:ea typeface="Cambria"/>
                <a:cs typeface="Cambria"/>
                <a:sym typeface="Cambria"/>
              </a:rPr>
              <a:t>Problemática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La información existe, pero está </a:t>
            </a:r>
            <a:r>
              <a:rPr lang="en-US" sz="1250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segmentada</a:t>
            </a:r>
            <a:r>
              <a:rPr b="0" i="0" lang="en-US" sz="12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1250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carece de </a:t>
            </a:r>
            <a:r>
              <a:rPr lang="en-US" sz="1250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centralización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1380744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 txBox="1"/>
          <p:nvPr/>
        </p:nvSpPr>
        <p:spPr>
          <a:xfrm>
            <a:off x="548640" y="138074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960120" y="132588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El reloj inteligente muestra sus datos en una aplicación </a:t>
            </a:r>
            <a:r>
              <a:rPr lang="en-US" sz="1200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externa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48640" y="1947672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 txBox="1"/>
          <p:nvPr/>
        </p:nvSpPr>
        <p:spPr>
          <a:xfrm>
            <a:off x="548640" y="19476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 txBox="1"/>
          <p:nvPr/>
        </p:nvSpPr>
        <p:spPr>
          <a:xfrm>
            <a:off x="960120" y="1892808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La coordinación con la cuidadora ocurre por WhatsApp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960120" y="2459736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Las recetas médicas quedan como </a:t>
            </a:r>
            <a:r>
              <a:rPr lang="en-US" sz="1200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imagenes</a:t>
            </a:r>
            <a:r>
              <a:rPr b="0" i="0" lang="en-US" sz="12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 en el teléfono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8640" y="3081528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548640" y="30815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960120" y="3026664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Lo que pasa en el día no se registra en ninguna parte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548640" y="3730752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Cuando un familiar que vive lejos quiere saber cómo está su madre o su padre, no tiene una respuesta clara.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257800" y="1325880"/>
            <a:ext cx="3383280" cy="1234440"/>
          </a:xfrm>
          <a:prstGeom prst="roundRect">
            <a:avLst>
              <a:gd fmla="val 5926" name="adj"/>
            </a:avLst>
          </a:prstGeom>
          <a:solidFill>
            <a:srgbClr val="04414D"/>
          </a:solidFill>
          <a:ln cap="flat" cmpd="sng" w="12700">
            <a:solidFill>
              <a:srgbClr val="044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5394960" y="14630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 millones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5394960" y="20116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 personas en Chile tienen 60 años o más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257800" y="2697480"/>
            <a:ext cx="3383280" cy="1234440"/>
          </a:xfrm>
          <a:prstGeom prst="roundRect">
            <a:avLst>
              <a:gd fmla="val 5926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 txBox="1"/>
          <p:nvPr/>
        </p:nvSpPr>
        <p:spPr>
          <a:xfrm>
            <a:off x="5394960" y="283464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 de cada 10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5394960" y="33832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DEFE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DEFEC"/>
                </a:solidFill>
                <a:latin typeface="Calibri"/>
                <a:ea typeface="Calibri"/>
                <a:cs typeface="Calibri"/>
                <a:sym typeface="Calibri"/>
              </a:rPr>
              <a:t>necesitan ayuda de otra persona para su vida diaria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4414D"/>
                </a:solidFill>
                <a:latin typeface="Cambria"/>
                <a:ea typeface="Cambria"/>
                <a:cs typeface="Cambria"/>
                <a:sym typeface="Cambria"/>
              </a:rPr>
              <a:t>Propuesta de solución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Cuatro pilares sobre un expediente único y compartido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02920" y="1371600"/>
            <a:ext cx="3977640" cy="1298448"/>
          </a:xfrm>
          <a:prstGeom prst="roundRect">
            <a:avLst>
              <a:gd fmla="val 5634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704088" y="1591056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 txBox="1"/>
          <p:nvPr/>
        </p:nvSpPr>
        <p:spPr>
          <a:xfrm>
            <a:off x="704088" y="15910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1216152" y="15727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Salud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/>
          <p:nvPr/>
        </p:nvSpPr>
        <p:spPr>
          <a:xfrm>
            <a:off x="1216152" y="1883664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Mediciones del reloj y registros de la cuidadora, resumidos en un indicador diario de bienestar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663440" y="1371600"/>
            <a:ext cx="3977640" cy="1298448"/>
          </a:xfrm>
          <a:prstGeom prst="roundRect">
            <a:avLst>
              <a:gd fmla="val 5634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864608" y="1591056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 txBox="1"/>
          <p:nvPr/>
        </p:nvSpPr>
        <p:spPr>
          <a:xfrm>
            <a:off x="4864608" y="15910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5376672" y="157276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Alertas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5376672" y="1883664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Aviso inmediato ante caída, valor fuera de rango o medicamento no administrado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02920" y="2852928"/>
            <a:ext cx="3977640" cy="1298448"/>
          </a:xfrm>
          <a:prstGeom prst="roundRect">
            <a:avLst>
              <a:gd fmla="val 5634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704088" y="3072384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 txBox="1"/>
          <p:nvPr/>
        </p:nvSpPr>
        <p:spPr>
          <a:xfrm>
            <a:off x="704088" y="30723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1216152" y="30540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1216152" y="3364992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Chat del círculo de cuidado y asistente que responde sobre el historial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663440" y="2852928"/>
            <a:ext cx="3977640" cy="1298448"/>
          </a:xfrm>
          <a:prstGeom prst="roundRect">
            <a:avLst>
              <a:gd fmla="val 5634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864608" y="3072384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4864608" y="30723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5376672" y="305409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Acompañamiento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5376672" y="3364992"/>
            <a:ext cx="3108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Vista accesible por voz, fotos de la familia, entretenimiento y creación musical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502920" y="4407408"/>
            <a:ext cx="8138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El problema de fondo no es la falta de dispositivos, sino que la información nunca se integra en un lugar único y confiable.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14D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-1097280" y="3291840"/>
            <a:ext cx="3108960" cy="3108960"/>
          </a:xfrm>
          <a:prstGeom prst="ellipse">
            <a:avLst/>
          </a:prstGeom>
          <a:solidFill>
            <a:srgbClr val="028090">
              <a:alpha val="40000"/>
            </a:srgbClr>
          </a:solidFill>
          <a:ln cap="flat" cmpd="sng" w="12700">
            <a:solidFill>
              <a:srgbClr val="0280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685800" y="6400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Objetivo general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685800" y="1417320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digital integral de cuidado de adultos mayores que centralice el monitoreo de salud, las alertas, la coordinación del cuidado y la comunicación entre familiares, cuidadores, médicos y el propio adulto mayor.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685800" y="324612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8C9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8C9CC"/>
                </a:solidFill>
                <a:latin typeface="Calibri"/>
                <a:ea typeface="Calibri"/>
                <a:cs typeface="Calibri"/>
                <a:sym typeface="Calibri"/>
              </a:rPr>
              <a:t>Para dar a las familias que cuidan a distancia información confiable y en tiempo real sobre el bienestar de su ser querido, y al adulto mayor un medio accesible para mantenerse conectado, acompañado y activo.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4414D"/>
                </a:solidFill>
                <a:latin typeface="Cambria"/>
                <a:ea typeface="Cambria"/>
                <a:cs typeface="Cambria"/>
                <a:sym typeface="Cambria"/>
              </a:rPr>
              <a:t>Objetivos específicos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30352" y="1243584"/>
            <a:ext cx="365760" cy="3657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530352" y="12435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1042416" y="1170432"/>
            <a:ext cx="75895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2858" lvl="0" marL="285788" marR="103759" rtl="0" algn="l">
              <a:lnSpc>
                <a:spcPct val="112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C3E50"/>
                </a:solidFill>
              </a:rPr>
              <a:t>Disminuir en un 40% el tiempo promedio de respuesta </a:t>
            </a:r>
            <a:br>
              <a:rPr b="1" lang="en-US" sz="1100">
                <a:solidFill>
                  <a:srgbClr val="2C3E50"/>
                </a:solidFill>
              </a:rPr>
            </a:br>
            <a:r>
              <a:rPr lang="en-US" sz="1100">
                <a:solidFill>
                  <a:srgbClr val="2C3E50"/>
                </a:solidFill>
              </a:rPr>
              <a:t>ante emergencias médicas (caídas o signos vitales anómalos) durante los primeros 3 meses de operación, mediante la orquestación de notificaciones push de criticidad alta en los dispositivos de la red familiar.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21265" y="2317948"/>
            <a:ext cx="365700" cy="36570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 txBox="1"/>
          <p:nvPr/>
        </p:nvSpPr>
        <p:spPr>
          <a:xfrm>
            <a:off x="521265" y="2317948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/>
        </p:nvSpPr>
        <p:spPr>
          <a:xfrm>
            <a:off x="1033279" y="2244796"/>
            <a:ext cx="7589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4458" lvl="0" marL="288303" marR="59494" rtl="0" algn="l">
              <a:lnSpc>
                <a:spcPct val="1124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C3E50"/>
                </a:solidFill>
              </a:rPr>
              <a:t>Aumentar la tasa de adherencia farmacológica en un 35%</a:t>
            </a:r>
            <a:br>
              <a:rPr b="1" lang="en-US" sz="1100">
                <a:solidFill>
                  <a:srgbClr val="2C3E50"/>
                </a:solidFill>
              </a:rPr>
            </a:br>
            <a:r>
              <a:rPr lang="en-US" sz="1100">
                <a:solidFill>
                  <a:srgbClr val="2C3E50"/>
                </a:solidFill>
              </a:rPr>
              <a:t>dentro del primer semestre de implementación en pacientes piloto, utilizando recordatorios persistentes, alarmas programadas y la digitalización automatizada de recetas médicas (OCR). </a:t>
            </a:r>
            <a:endParaRPr sz="1100">
              <a:solidFill>
                <a:srgbClr val="2C3E50"/>
              </a:solidFill>
            </a:endParaRPr>
          </a:p>
          <a:p>
            <a:pPr indent="-4458" lvl="0" marL="288303" marR="59494" rtl="0" algn="l">
              <a:lnSpc>
                <a:spcPct val="1124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2C3E50"/>
              </a:solidFill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21215" y="3557011"/>
            <a:ext cx="365700" cy="3657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521215" y="3557011"/>
            <a:ext cx="365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1033279" y="3483859"/>
            <a:ext cx="7589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2515" lvl="0" marL="281330" marR="124860" rtl="0" algn="l">
              <a:lnSpc>
                <a:spcPct val="1124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2C3E50"/>
                </a:solidFill>
              </a:rPr>
              <a:t>Alcanzar una adopción diaria del 80%</a:t>
            </a:r>
            <a:br>
              <a:rPr b="1" lang="en-US" sz="1100">
                <a:solidFill>
                  <a:srgbClr val="2C3E50"/>
                </a:solidFill>
              </a:rPr>
            </a:br>
            <a:r>
              <a:rPr lang="en-US" sz="1100">
                <a:solidFill>
                  <a:srgbClr val="2C3E50"/>
                </a:solidFill>
              </a:rPr>
              <a:t>en el uso de la plataforma por parte de los adultos mayores al término del segundo mes de uso, a través de una interfaz de alta accesibilidad visual,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4414D"/>
                </a:solidFill>
                <a:latin typeface="Cambria"/>
                <a:ea typeface="Cambria"/>
                <a:cs typeface="Cambria"/>
                <a:sym typeface="Cambria"/>
              </a:rPr>
              <a:t>Alcances y limitaciones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502920" y="1170432"/>
            <a:ext cx="3977640" cy="2880360"/>
          </a:xfrm>
          <a:prstGeom prst="roundRect">
            <a:avLst>
              <a:gd fmla="val 2540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13232" y="1371600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713232" y="13716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1170432" y="13990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777240" y="1874520"/>
            <a:ext cx="3520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Base de datos, servidor y aplicaciones móvil y web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Los cuatro perfiles: familiar, cuidadora, médico y adulto mayor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Seguimiento de salud, medicación y adherencia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Sistema de alertas y emergencias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Comunicación y asistente de 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Vista accesible del adulto mayor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663440" y="1170432"/>
            <a:ext cx="3977640" cy="2880360"/>
          </a:xfrm>
          <a:prstGeom prst="roundRect">
            <a:avLst>
              <a:gd fmla="val 2540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873752" y="1371600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873752" y="137160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 txBox="1"/>
          <p:nvPr/>
        </p:nvSpPr>
        <p:spPr>
          <a:xfrm>
            <a:off x="5330952" y="1399032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 txBox="1"/>
          <p:nvPr/>
        </p:nvSpPr>
        <p:spPr>
          <a:xfrm>
            <a:off x="4937760" y="1874520"/>
            <a:ext cx="35204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Aún no está definido qué wearable se usará: trabajamos con datos simulados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El módulo de música y los juegos no tienen especificación entregada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El marco de privacidad de datos de salud está pendiente de definición legal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1C2B2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Sin transacciones en el marketplace ni atención médica a distancia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4414D"/>
                </a:solidFill>
                <a:latin typeface="Cambria"/>
                <a:ea typeface="Cambria"/>
                <a:cs typeface="Cambria"/>
                <a:sym typeface="Cambria"/>
              </a:rPr>
              <a:t>Metodología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Enfoque en cascada, avanzando por etapas ordenadas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02920" y="1417320"/>
            <a:ext cx="1481328" cy="1783080"/>
          </a:xfrm>
          <a:prstGeom prst="roundRect">
            <a:avLst>
              <a:gd fmla="val 4938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051560" y="160020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1051560" y="1600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557784" y="208483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557784" y="2377440"/>
            <a:ext cx="1371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Documento formal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con lo que debe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hacer el sistema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 txBox="1"/>
          <p:nvPr/>
        </p:nvSpPr>
        <p:spPr>
          <a:xfrm>
            <a:off x="1984248" y="2084832"/>
            <a:ext cx="192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176272" y="1417320"/>
            <a:ext cx="1481328" cy="1783080"/>
          </a:xfrm>
          <a:prstGeom prst="roundRect">
            <a:avLst>
              <a:gd fmla="val 4938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724912" y="1600200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2724912" y="1600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2231136" y="208483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Diseño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2231136" y="2377440"/>
            <a:ext cx="1371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Modelo de datos,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arquitectura 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diagramas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3657600" y="2084832"/>
            <a:ext cx="192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3849624" y="1417320"/>
            <a:ext cx="1481328" cy="1783080"/>
          </a:xfrm>
          <a:prstGeom prst="roundRect">
            <a:avLst>
              <a:gd fmla="val 4938" name="adj"/>
            </a:avLst>
          </a:prstGeom>
          <a:solidFill>
            <a:srgbClr val="F7FAFA"/>
          </a:solidFill>
          <a:ln cap="flat" cmpd="sng" w="12700">
            <a:solidFill>
              <a:srgbClr val="F7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398264" y="160020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4398264" y="1600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3904488" y="208483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Construcción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3904488" y="2377440"/>
            <a:ext cx="1371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Base de datos,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servidor 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aplicaciones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5330952" y="2084832"/>
            <a:ext cx="192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522976" y="1417320"/>
            <a:ext cx="1481328" cy="1783080"/>
          </a:xfrm>
          <a:prstGeom prst="roundRect">
            <a:avLst>
              <a:gd fmla="val 4938" name="adj"/>
            </a:avLst>
          </a:prstGeom>
          <a:solidFill>
            <a:srgbClr val="F7FAFA"/>
          </a:solidFill>
          <a:ln cap="flat" cmpd="sng" w="12700">
            <a:solidFill>
              <a:srgbClr val="F7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071616" y="1600200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6071616" y="1600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5577840" y="208483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Pruebas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5577840" y="2377440"/>
            <a:ext cx="1371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Permisos, alertas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e integridad 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la información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7004304" y="2084832"/>
            <a:ext cx="1920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196328" y="1417320"/>
            <a:ext cx="1481328" cy="1783080"/>
          </a:xfrm>
          <a:prstGeom prst="roundRect">
            <a:avLst>
              <a:gd fmla="val 4938" name="adj"/>
            </a:avLst>
          </a:prstGeom>
          <a:solidFill>
            <a:srgbClr val="F7FAFA"/>
          </a:solidFill>
          <a:ln cap="flat" cmpd="sng" w="12700">
            <a:solidFill>
              <a:srgbClr val="F7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7744968" y="1600200"/>
            <a:ext cx="384048" cy="38404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 txBox="1"/>
          <p:nvPr/>
        </p:nvSpPr>
        <p:spPr>
          <a:xfrm>
            <a:off x="7744968" y="1600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7251192" y="208483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7251192" y="2377440"/>
            <a:ext cx="1371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Sistema en marcha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con contenedores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02920" y="3456432"/>
            <a:ext cx="8138160" cy="1051560"/>
          </a:xfrm>
          <a:prstGeom prst="roundRect">
            <a:avLst>
              <a:gd fmla="val 6957" name="adj"/>
            </a:avLst>
          </a:prstGeom>
          <a:solidFill>
            <a:srgbClr val="04414D"/>
          </a:solidFill>
          <a:ln cap="flat" cmpd="sng" w="12700">
            <a:solidFill>
              <a:srgbClr val="0441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 txBox="1"/>
          <p:nvPr/>
        </p:nvSpPr>
        <p:spPr>
          <a:xfrm>
            <a:off x="777240" y="360273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¿Por qué cascada?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 txBox="1"/>
          <p:nvPr/>
        </p:nvSpPr>
        <p:spPr>
          <a:xfrm>
            <a:off x="3063240" y="3584448"/>
            <a:ext cx="5349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DEF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DEFEC"/>
                </a:solidFill>
                <a:latin typeface="Calibri"/>
                <a:ea typeface="Calibri"/>
                <a:cs typeface="Calibri"/>
                <a:sym typeface="Calibri"/>
              </a:rPr>
              <a:t>Porque la parte central del proyecto es la base de datos, y cambiarla una vez que ya tiene información guardada es lento y costoso. Además, gran parte de los requisitos ya está documentada por la empresa, así que no necesitamos descubrirlos sobre la marcha.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4414D"/>
                </a:solidFill>
                <a:latin typeface="Cambria"/>
                <a:ea typeface="Cambria"/>
                <a:cs typeface="Cambria"/>
                <a:sym typeface="Cambria"/>
              </a:rPr>
              <a:t>Tecnología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02920" y="1207008"/>
            <a:ext cx="2587752" cy="1536192"/>
          </a:xfrm>
          <a:prstGeom prst="roundRect">
            <a:avLst>
              <a:gd fmla="val 476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685800" y="1353312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/>
        </p:nvSpPr>
        <p:spPr>
          <a:xfrm>
            <a:off x="685800" y="1572768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685800" y="192024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Resuelve en un solo motor los datos relacionales y las series de alto volumen del wearable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3273552" y="1207008"/>
            <a:ext cx="2587752" cy="1536192"/>
          </a:xfrm>
          <a:prstGeom prst="roundRect">
            <a:avLst>
              <a:gd fmla="val 476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3456432" y="1353312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3456432" y="1572768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FastAPI (Python)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3456432" y="192024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Validación automática de datos y documentación generada desde el código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044184" y="1207008"/>
            <a:ext cx="2587752" cy="1536192"/>
          </a:xfrm>
          <a:prstGeom prst="roundRect">
            <a:avLst>
              <a:gd fmla="val 476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6227064" y="1353312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APP MÓVIL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/>
        </p:nvSpPr>
        <p:spPr>
          <a:xfrm>
            <a:off x="6227064" y="1572768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Flutter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6227064" y="1920240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Una sola base de código para iOS y Android, con acceso a los sensores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02920" y="2907792"/>
            <a:ext cx="2587752" cy="1536192"/>
          </a:xfrm>
          <a:prstGeom prst="roundRect">
            <a:avLst>
              <a:gd fmla="val 476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 txBox="1"/>
          <p:nvPr/>
        </p:nvSpPr>
        <p:spPr>
          <a:xfrm>
            <a:off x="685800" y="3054096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BD LOCAL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685800" y="327355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Drift (SQLite)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685800" y="3621024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Permite que la aplicación siga funcionando sin conexión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3273552" y="2907792"/>
            <a:ext cx="2587752" cy="1536192"/>
          </a:xfrm>
          <a:prstGeom prst="roundRect">
            <a:avLst>
              <a:gd fmla="val 476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 txBox="1"/>
          <p:nvPr/>
        </p:nvSpPr>
        <p:spPr>
          <a:xfrm>
            <a:off x="3456432" y="3054096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APLICACIÓN WEB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 txBox="1"/>
          <p:nvPr/>
        </p:nvSpPr>
        <p:spPr>
          <a:xfrm>
            <a:off x="3456432" y="327355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3456432" y="3621024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Acceso desde el navegador, consumiendo la misma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044184" y="2907792"/>
            <a:ext cx="2587752" cy="1536192"/>
          </a:xfrm>
          <a:prstGeom prst="roundRect">
            <a:avLst>
              <a:gd fmla="val 4762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 txBox="1"/>
          <p:nvPr/>
        </p:nvSpPr>
        <p:spPr>
          <a:xfrm>
            <a:off x="6227064" y="3054096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 txBox="1"/>
          <p:nvPr/>
        </p:nvSpPr>
        <p:spPr>
          <a:xfrm>
            <a:off x="6227064" y="3273552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 txBox="1"/>
          <p:nvPr/>
        </p:nvSpPr>
        <p:spPr>
          <a:xfrm>
            <a:off x="6227064" y="3621024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Mismo entorno en los computadores del equipo y en el servidor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502920" y="459028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Servicios externos: Spike API para wearables, notificaciones push, DeepSeek para el asistente, y reconocimiento de texto y voz.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/>
          <p:nvPr/>
        </p:nvSpPr>
        <p:spPr>
          <a:xfrm>
            <a:off x="502920" y="310896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4414D"/>
                </a:solidFill>
                <a:latin typeface="Cambria"/>
                <a:ea typeface="Cambria"/>
                <a:cs typeface="Cambria"/>
                <a:sym typeface="Cambria"/>
              </a:rPr>
              <a:t>Cronograma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502920" y="841248"/>
            <a:ext cx="8138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B70"/>
                </a:solidFill>
                <a:latin typeface="Calibri"/>
                <a:ea typeface="Calibri"/>
                <a:cs typeface="Calibri"/>
                <a:sym typeface="Calibri"/>
              </a:rPr>
              <a:t>Semestre de 18 semanas, dividido en tres fases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502920" y="1298448"/>
            <a:ext cx="2587752" cy="2834640"/>
          </a:xfrm>
          <a:prstGeom prst="roundRect">
            <a:avLst>
              <a:gd fmla="val 2827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502920" y="1298448"/>
            <a:ext cx="2587752" cy="566928"/>
          </a:xfrm>
          <a:prstGeom prst="roundRect">
            <a:avLst>
              <a:gd fmla="val 12903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685800" y="137160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 txBox="1"/>
          <p:nvPr/>
        </p:nvSpPr>
        <p:spPr>
          <a:xfrm>
            <a:off x="1691640" y="1371600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EFE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DEFEC"/>
                </a:solidFill>
                <a:latin typeface="Calibri"/>
                <a:ea typeface="Calibri"/>
                <a:cs typeface="Calibri"/>
                <a:sym typeface="Calibri"/>
              </a:rPr>
              <a:t>S1 – S6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685800" y="1609344"/>
            <a:ext cx="2221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0E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F0EE"/>
                </a:solidFill>
                <a:latin typeface="Calibri"/>
                <a:ea typeface="Calibri"/>
                <a:cs typeface="Calibri"/>
                <a:sym typeface="Calibri"/>
              </a:rPr>
              <a:t>Requisitos y diseño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04088" y="2084832"/>
            <a:ext cx="237744" cy="23774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 txBox="1"/>
          <p:nvPr/>
        </p:nvSpPr>
        <p:spPr>
          <a:xfrm>
            <a:off x="704088" y="208483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1033272" y="2029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Levantamiento de requisitos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704088" y="2679192"/>
            <a:ext cx="237744" cy="23774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704088" y="26791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 txBox="1"/>
          <p:nvPr/>
        </p:nvSpPr>
        <p:spPr>
          <a:xfrm>
            <a:off x="1033272" y="262432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704088" y="3273552"/>
            <a:ext cx="237744" cy="23774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704088" y="327355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 txBox="1"/>
          <p:nvPr/>
        </p:nvSpPr>
        <p:spPr>
          <a:xfrm>
            <a:off x="1033272" y="32186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Arquitectura y diagramas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3273552" y="1298448"/>
            <a:ext cx="2587752" cy="2834640"/>
          </a:xfrm>
          <a:prstGeom prst="roundRect">
            <a:avLst>
              <a:gd fmla="val 2827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3273552" y="1298448"/>
            <a:ext cx="2587752" cy="566928"/>
          </a:xfrm>
          <a:prstGeom prst="roundRect">
            <a:avLst>
              <a:gd fmla="val 12903" name="adj"/>
            </a:avLst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 txBox="1"/>
          <p:nvPr/>
        </p:nvSpPr>
        <p:spPr>
          <a:xfrm>
            <a:off x="3456432" y="137160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 txBox="1"/>
          <p:nvPr/>
        </p:nvSpPr>
        <p:spPr>
          <a:xfrm>
            <a:off x="4462272" y="1371600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EFE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DEFEC"/>
                </a:solidFill>
                <a:latin typeface="Calibri"/>
                <a:ea typeface="Calibri"/>
                <a:cs typeface="Calibri"/>
                <a:sym typeface="Calibri"/>
              </a:rPr>
              <a:t>S7 – S12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3456432" y="1609344"/>
            <a:ext cx="2221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0E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F0EE"/>
                </a:solidFill>
                <a:latin typeface="Calibri"/>
                <a:ea typeface="Calibri"/>
                <a:cs typeface="Calibri"/>
                <a:sym typeface="Calibri"/>
              </a:rPr>
              <a:t>Construcción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474720" y="2084832"/>
            <a:ext cx="237744" cy="23774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3474720" y="208483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3803904" y="2029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Base de datos implementada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474720" y="2679192"/>
            <a:ext cx="237744" cy="23774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 txBox="1"/>
          <p:nvPr/>
        </p:nvSpPr>
        <p:spPr>
          <a:xfrm>
            <a:off x="3474720" y="26791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3803904" y="262432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Servidor y servicios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3474720" y="3273552"/>
            <a:ext cx="237744" cy="237744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3474720" y="327355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3803904" y="32186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Integración de aplicaciones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044184" y="1298448"/>
            <a:ext cx="2587752" cy="2834640"/>
          </a:xfrm>
          <a:prstGeom prst="roundRect">
            <a:avLst>
              <a:gd fmla="val 2827" name="adj"/>
            </a:avLst>
          </a:prstGeom>
          <a:solidFill>
            <a:srgbClr val="EFF6F6"/>
          </a:solidFill>
          <a:ln cap="flat" cmpd="sng" w="12700">
            <a:solidFill>
              <a:srgbClr val="EFF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044184" y="1298448"/>
            <a:ext cx="2587752" cy="566928"/>
          </a:xfrm>
          <a:prstGeom prst="roundRect">
            <a:avLst>
              <a:gd fmla="val 12903" name="adj"/>
            </a:avLst>
          </a:prstGeom>
          <a:solidFill>
            <a:srgbClr val="0B6E7F"/>
          </a:solidFill>
          <a:ln cap="flat" cmpd="sng" w="12700">
            <a:solidFill>
              <a:srgbClr val="0B6E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6227064" y="1371600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7232904" y="1371600"/>
            <a:ext cx="121615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DEFE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DEFEC"/>
                </a:solidFill>
                <a:latin typeface="Calibri"/>
                <a:ea typeface="Calibri"/>
                <a:cs typeface="Calibri"/>
                <a:sym typeface="Calibri"/>
              </a:rPr>
              <a:t>S13 – S18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 txBox="1"/>
          <p:nvPr/>
        </p:nvSpPr>
        <p:spPr>
          <a:xfrm>
            <a:off x="6227064" y="1609344"/>
            <a:ext cx="2221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F0E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9F0EE"/>
                </a:solidFill>
                <a:latin typeface="Calibri"/>
                <a:ea typeface="Calibri"/>
                <a:cs typeface="Calibri"/>
                <a:sym typeface="Calibri"/>
              </a:rPr>
              <a:t>Pruebas y cierre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6245352" y="2084832"/>
            <a:ext cx="237744" cy="237744"/>
          </a:xfrm>
          <a:prstGeom prst="ellipse">
            <a:avLst/>
          </a:prstGeom>
          <a:solidFill>
            <a:srgbClr val="0B6E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6245352" y="208483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6574536" y="202996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Pruebas y correcciones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245352" y="2679192"/>
            <a:ext cx="237744" cy="237744"/>
          </a:xfrm>
          <a:prstGeom prst="ellipse">
            <a:avLst/>
          </a:prstGeom>
          <a:solidFill>
            <a:srgbClr val="0B6E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6245352" y="26791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6574536" y="262432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Despliegue del sistema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245352" y="3273552"/>
            <a:ext cx="237744" cy="237744"/>
          </a:xfrm>
          <a:prstGeom prst="ellipse">
            <a:avLst/>
          </a:prstGeom>
          <a:solidFill>
            <a:srgbClr val="0B6E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6245352" y="327355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6574536" y="32186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2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2B2F"/>
                </a:solidFill>
                <a:latin typeface="Calibri"/>
                <a:ea typeface="Calibri"/>
                <a:cs typeface="Calibri"/>
                <a:sym typeface="Calibri"/>
              </a:rPr>
              <a:t>Entrega y presentación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502920" y="4315968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Dedicación estimada: 7 horas semanales por integrante, más de 300 horas de trabajo del equipo en el semestre.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14D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7223760" y="3017520"/>
            <a:ext cx="3291840" cy="3291840"/>
          </a:xfrm>
          <a:prstGeom prst="ellipse">
            <a:avLst/>
          </a:prstGeom>
          <a:solidFill>
            <a:srgbClr val="028090">
              <a:alpha val="40000"/>
            </a:srgbClr>
          </a:solidFill>
          <a:ln cap="flat" cmpd="sng" w="12700">
            <a:solidFill>
              <a:srgbClr val="0280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685800" y="658368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Comentario final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713232" y="1472184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713232" y="147218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 txBox="1"/>
          <p:nvPr/>
        </p:nvSpPr>
        <p:spPr>
          <a:xfrm>
            <a:off x="1188720" y="1417320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problema real, no un ejercicio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1188720" y="1709928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9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9CC"/>
                </a:solidFill>
                <a:latin typeface="Calibri"/>
                <a:ea typeface="Calibri"/>
                <a:cs typeface="Calibri"/>
                <a:sym typeface="Calibri"/>
              </a:rPr>
              <a:t>Cuatro millones de personas mayores en Chile y familias que hoy cuidan con herramientas improvisadas.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13232" y="2404872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 txBox="1"/>
          <p:nvPr/>
        </p:nvSpPr>
        <p:spPr>
          <a:xfrm>
            <a:off x="713232" y="24048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 txBox="1"/>
          <p:nvPr/>
        </p:nvSpPr>
        <p:spPr>
          <a:xfrm>
            <a:off x="1188720" y="2350008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Partimos con base, no de cero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 txBox="1"/>
          <p:nvPr/>
        </p:nvSpPr>
        <p:spPr>
          <a:xfrm>
            <a:off x="1188720" y="2642616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9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9CC"/>
                </a:solidFill>
                <a:latin typeface="Calibri"/>
                <a:ea typeface="Calibri"/>
                <a:cs typeface="Calibri"/>
                <a:sym typeface="Calibri"/>
              </a:rPr>
              <a:t>La empresa entrega documentación técnica y una aplicación construida. Nuestro trabajo es lo que falta.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713232" y="3337560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 txBox="1"/>
          <p:nvPr/>
        </p:nvSpPr>
        <p:spPr>
          <a:xfrm>
            <a:off x="713232" y="33375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4414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4414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 txBox="1"/>
          <p:nvPr/>
        </p:nvSpPr>
        <p:spPr>
          <a:xfrm>
            <a:off x="1188720" y="3282696"/>
            <a:ext cx="6766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dificultades ya están identificadas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 txBox="1"/>
          <p:nvPr/>
        </p:nvSpPr>
        <p:spPr>
          <a:xfrm>
            <a:off x="1188720" y="3575304"/>
            <a:ext cx="6766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9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C9CC"/>
                </a:solidFill>
                <a:latin typeface="Calibri"/>
                <a:ea typeface="Calibri"/>
                <a:cs typeface="Calibri"/>
                <a:sym typeface="Calibri"/>
              </a:rPr>
              <a:t>Cada limitación que detectamos tiene una forma de abordarla definida de antemano.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 txBox="1"/>
          <p:nvPr/>
        </p:nvSpPr>
        <p:spPr>
          <a:xfrm>
            <a:off x="713232" y="4315968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Gracias. Quedamos atentos a sus consultas.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2026-09-03T01:47:54Z</dcterms:created>
  <dc:creator>PptxGenJS</dc:creator>
</cp:coreProperties>
</file>