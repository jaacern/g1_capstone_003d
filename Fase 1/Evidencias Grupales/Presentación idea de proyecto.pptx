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441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-1371600"/>
            <a:ext cx="3840480" cy="3840480"/>
          </a:xfrm>
          <a:prstGeom prst="ellipse">
            <a:avLst/>
          </a:prstGeom>
          <a:solidFill>
            <a:srgbClr val="028090">
              <a:alpha val="45000"/>
            </a:srgbClr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955280" y="3108960"/>
            <a:ext cx="2377440" cy="2377440"/>
          </a:xfrm>
          <a:prstGeom prst="ellipse">
            <a:avLst/>
          </a:prstGeom>
          <a:solidFill>
            <a:srgbClr val="00A896">
              <a:alpha val="30000"/>
            </a:srgbClr>
          </a:solidFill>
          <a:ln w="12700">
            <a:solidFill>
              <a:srgbClr val="00A896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41732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AgeCare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3317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digital integral de cuidado de adultos mayores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889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C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Fase 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977640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C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· PTY4614 · Ingeniería en Informática · Sede San Andrés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4279392"/>
            <a:ext cx="6949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Javier Cerna Chávez  ·  Benjamín Camus  ·  Juan Mora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41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Descripción del proyecto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41248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sistema, cuatro vistas según quién entra</a:t>
            </a:r>
            <a:endParaRPr lang="en-US" sz="12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28016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C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AgeCare reúne en un solo lugar la información de salud del adulto mayor, avisa a tiempo cuando algo anda mal y mantiene coordinados a quienes lo cuidan.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02920" y="1965960"/>
            <a:ext cx="1874520" cy="2148840"/>
          </a:xfrm>
          <a:prstGeom prst="roundRect">
            <a:avLst>
              <a:gd name="adj" fmla="val 3902"/>
            </a:avLst>
          </a:prstGeom>
          <a:solidFill>
            <a:srgbClr val="EFF6F6"/>
          </a:solidFill>
          <a:ln w="12700">
            <a:solidFill>
              <a:srgbClr val="EFF6F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88720" y="2194560"/>
            <a:ext cx="502920" cy="502920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88720" y="2194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12648" y="2816352"/>
            <a:ext cx="1655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44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Familiar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12648" y="3127248"/>
            <a:ext cx="16550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 el estado de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salud y recibe las alertas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560320" y="1965960"/>
            <a:ext cx="1874520" cy="2148840"/>
          </a:xfrm>
          <a:prstGeom prst="roundRect">
            <a:avLst>
              <a:gd name="adj" fmla="val 3902"/>
            </a:avLst>
          </a:prstGeom>
          <a:solidFill>
            <a:srgbClr val="EFF6F6"/>
          </a:solidFill>
          <a:ln w="12700">
            <a:solidFill>
              <a:srgbClr val="EFF6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46120" y="2194560"/>
            <a:ext cx="502920" cy="502920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246120" y="2194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670048" y="2816352"/>
            <a:ext cx="1655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44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Cuidadora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670048" y="3127248"/>
            <a:ext cx="16550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 el día a día: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dosis, observaciones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617720" y="1965960"/>
            <a:ext cx="1874520" cy="2148840"/>
          </a:xfrm>
          <a:prstGeom prst="roundRect">
            <a:avLst>
              <a:gd name="adj" fmla="val 3902"/>
            </a:avLst>
          </a:prstGeom>
          <a:solidFill>
            <a:srgbClr val="EFF6F6"/>
          </a:solidFill>
          <a:ln w="12700">
            <a:solidFill>
              <a:srgbClr val="EFF6F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303520" y="2194560"/>
            <a:ext cx="502920" cy="502920"/>
          </a:xfrm>
          <a:prstGeom prst="ellipse">
            <a:avLst/>
          </a:prstGeom>
          <a:solidFill>
            <a:srgbClr val="0B6E7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03520" y="2194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727448" y="2816352"/>
            <a:ext cx="1655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44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Médico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727448" y="3127248"/>
            <a:ext cx="16550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y ajusta el plan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medicamentos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675120" y="1965960"/>
            <a:ext cx="1874520" cy="2148840"/>
          </a:xfrm>
          <a:prstGeom prst="roundRect">
            <a:avLst>
              <a:gd name="adj" fmla="val 3902"/>
            </a:avLst>
          </a:prstGeom>
          <a:solidFill>
            <a:srgbClr val="EFF6F6"/>
          </a:solidFill>
          <a:ln w="12700">
            <a:solidFill>
              <a:srgbClr val="EFF6F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60920" y="2194560"/>
            <a:ext cx="502920" cy="50292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60920" y="2194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784848" y="2816352"/>
            <a:ext cx="1655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44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Adulto mayor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784848" y="3127248"/>
            <a:ext cx="16550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comunica, ve fotos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crea música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41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Problemática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41248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información existe, pero está segmentada y carece de centralización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48640" y="1380744"/>
            <a:ext cx="274320" cy="27432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3807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325880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reloj inteligente muestra sus datos en una aplicación externa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947672"/>
            <a:ext cx="274320" cy="27432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476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1892808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coordinación con la cuidadora ocurre por WhatsApp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514600"/>
            <a:ext cx="274320" cy="27432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5146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2459736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recetas médicas quedan como imágenes en el teléfono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081528"/>
            <a:ext cx="274320" cy="27432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08152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3026664"/>
            <a:ext cx="3977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C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pasa en el día no se registra en ninguna parte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73075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un familiar que vive lejos quiere saber cómo está su madre o su padre, no tiene una respuesta clara.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257800" y="1325880"/>
            <a:ext cx="3383280" cy="1234440"/>
          </a:xfrm>
          <a:prstGeom prst="roundRect">
            <a:avLst>
              <a:gd name="adj" fmla="val 5926"/>
            </a:avLst>
          </a:prstGeom>
          <a:solidFill>
            <a:srgbClr val="04414D"/>
          </a:solidFill>
          <a:ln w="12700">
            <a:solidFill>
              <a:srgbClr val="04414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394960" y="14630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millones</a:t>
            </a:r>
            <a:endParaRPr lang="en-US" sz="3400" dirty="0"/>
          </a:p>
        </p:txBody>
      </p:sp>
      <p:sp>
        <p:nvSpPr>
          <p:cNvPr id="19" name="Text 17"/>
          <p:cNvSpPr txBox="1"/>
          <p:nvPr/>
        </p:nvSpPr>
        <p:spPr>
          <a:xfrm>
            <a:off x="5394960" y="20116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personas en Chile tienen 60 años o más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257800" y="2697480"/>
            <a:ext cx="3383280" cy="1234440"/>
          </a:xfrm>
          <a:prstGeom prst="roundRect">
            <a:avLst>
              <a:gd name="adj" fmla="val 5926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394960" y="28346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de cada 10</a:t>
            </a:r>
            <a:endParaRPr lang="en-US" sz="3400" dirty="0"/>
          </a:p>
        </p:txBody>
      </p:sp>
      <p:sp>
        <p:nvSpPr>
          <p:cNvPr id="22" name="Text 20"/>
          <p:cNvSpPr txBox="1"/>
          <p:nvPr/>
        </p:nvSpPr>
        <p:spPr>
          <a:xfrm>
            <a:off x="5394960" y="338328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D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necesitan ayuda de otra persona para su vida diaria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41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Propuesta de solución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41248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pilares sobre un expediente único y compartido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77640" cy="1298448"/>
          </a:xfrm>
          <a:prstGeom prst="roundRect">
            <a:avLst>
              <a:gd name="adj" fmla="val 5634"/>
            </a:avLst>
          </a:prstGeom>
          <a:solidFill>
            <a:srgbClr val="EFF6F6"/>
          </a:solidFill>
          <a:ln w="12700">
            <a:solidFill>
              <a:srgbClr val="EFF6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04088" y="1591056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04088" y="1591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16152" y="15727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44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Salud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216152" y="1883664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Mediciones del reloj y registros de la cuidadora, resumidos en un indicador diario de bienestar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371600"/>
            <a:ext cx="3977640" cy="1298448"/>
          </a:xfrm>
          <a:prstGeom prst="roundRect">
            <a:avLst>
              <a:gd name="adj" fmla="val 5634"/>
            </a:avLst>
          </a:prstGeom>
          <a:solidFill>
            <a:srgbClr val="EFF6F6"/>
          </a:solidFill>
          <a:ln w="12700">
            <a:solidFill>
              <a:srgbClr val="EFF6F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64608" y="1591056"/>
            <a:ext cx="384048" cy="38404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64608" y="1591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376672" y="15727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44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376672" y="1883664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 inmediato ante caída, valor fuera de rango o medicamento no administrado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02920" y="2852928"/>
            <a:ext cx="3977640" cy="1298448"/>
          </a:xfrm>
          <a:prstGeom prst="roundRect">
            <a:avLst>
              <a:gd name="adj" fmla="val 5634"/>
            </a:avLst>
          </a:prstGeom>
          <a:solidFill>
            <a:srgbClr val="EFF6F6"/>
          </a:solidFill>
          <a:ln w="12700">
            <a:solidFill>
              <a:srgbClr val="EFF6F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4088" y="3072384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04088" y="3072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216152" y="305409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44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216152" y="336499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del círculo de cuidado y asistente que responde sobre el historial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663440" y="2852928"/>
            <a:ext cx="3977640" cy="1298448"/>
          </a:xfrm>
          <a:prstGeom prst="roundRect">
            <a:avLst>
              <a:gd name="adj" fmla="val 5634"/>
            </a:avLst>
          </a:prstGeom>
          <a:solidFill>
            <a:srgbClr val="EFF6F6"/>
          </a:solidFill>
          <a:ln w="12700">
            <a:solidFill>
              <a:srgbClr val="EFF6F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64608" y="3072384"/>
            <a:ext cx="384048" cy="38404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64608" y="3072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376672" y="305409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44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Acompañamiento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5376672" y="3364992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Vista accesible por voz, fotos de la familia, entretenimiento y creación musical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502920" y="440740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de fondo no es la falta de dispositivos, sino que la información nunca se integra en un lugar único y confiable.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441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3291840"/>
            <a:ext cx="3108960" cy="3108960"/>
          </a:xfrm>
          <a:prstGeom prst="ellipse">
            <a:avLst/>
          </a:prstGeom>
          <a:solidFill>
            <a:srgbClr val="028090">
              <a:alpha val="40000"/>
            </a:srgbClr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640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general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71600"/>
            <a:ext cx="7772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y desplegar la plataforma AgeCare para centralizar el monitoreo de salud, las alertas y la coordinación clínica entre familiares, cuidadores, médicos y el adulto mayor.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017520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A8C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Entregando una solución robusta y escalable que garantice la seguridad de los datos y optimice los tiempos de reacción ante eventos críticos de salud.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41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 específicos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41248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Formulados como métricas de producto final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30352" y="1197864"/>
            <a:ext cx="329184" cy="32918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30352" y="11978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170432"/>
            <a:ext cx="7635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44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Disminuir en un 40% el tiempo de respuesta ante emergencias médicas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1005840" y="1435608"/>
            <a:ext cx="7635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Caídas o signos vitales anómalos, en los primeros 3 meses de operación, mediante notificaciones push de criticidad alta a la red familiar.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0352" y="192024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30352" y="19202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1892808"/>
            <a:ext cx="7635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44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Aumentar en un 35% la tasa de adherencia farmacológica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157984"/>
            <a:ext cx="7635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el primer semestre de implementación, con recordatorios persistentes, alarmas programadas y digitalización de recetas (OCR).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30352" y="2642616"/>
            <a:ext cx="329184" cy="32918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0352" y="26426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2615184"/>
            <a:ext cx="7635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44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Alcanzar una adopción diaria del 80% en adultos mayores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2880360"/>
            <a:ext cx="7635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término del segundo mes de uso, con interfaz de alta accesibilidad visual, dictado por voz y el módulo «Director Musical».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30352" y="336499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0352" y="33649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3337560"/>
            <a:ext cx="7635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44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Mantener la latencia bajo 500 ms (p95) y una disponibilidad del 99,9%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3602736"/>
            <a:ext cx="7635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el 100% de los usuarios activos en producción, mediante la arquitectura en contenedores Docker sobre Azure.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30352" y="4087368"/>
            <a:ext cx="329184" cy="32918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30352" y="40873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05840" y="4059936"/>
            <a:ext cx="7635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44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Alcanzar una conversión del 10% a planes de suscripción Premium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" y="4325112"/>
            <a:ext cx="7635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base activa de usuarios durante los primeros 6 meses de operación, bajo el modelo freemium.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41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Alcances y limitaciones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170432"/>
            <a:ext cx="3977640" cy="3063240"/>
          </a:xfrm>
          <a:prstGeom prst="roundRect">
            <a:avLst>
              <a:gd name="adj" fmla="val 2388"/>
            </a:avLst>
          </a:prstGeom>
          <a:solidFill>
            <a:srgbClr val="EFF6F6"/>
          </a:solidFill>
          <a:ln w="12700">
            <a:solidFill>
              <a:srgbClr val="EFF6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13232" y="1371600"/>
            <a:ext cx="329184" cy="32918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13232" y="1371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3990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4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1874520"/>
            <a:ext cx="35204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C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centrado en el núcleo de salud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C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datos, backend y aplicación móvil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C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cuatro perfiles: familiar, cuidadora, médico y adulto mayor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C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Seguimiento de salud, medicación y adherencia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C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alertas y emergencias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C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Comunicación y asistente de IA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170432"/>
            <a:ext cx="3977640" cy="3063240"/>
          </a:xfrm>
          <a:prstGeom prst="roundRect">
            <a:avLst>
              <a:gd name="adj" fmla="val 2388"/>
            </a:avLst>
          </a:prstGeom>
          <a:solidFill>
            <a:srgbClr val="EFF6F6"/>
          </a:solidFill>
          <a:ln w="12700">
            <a:solidFill>
              <a:srgbClr val="EFF6F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73752" y="1371600"/>
            <a:ext cx="329184" cy="32918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873752" y="1371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5330952" y="139903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4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Limitaciones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937760" y="1874520"/>
            <a:ext cx="35204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C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Aún no está definido qué wearable se usará: trabajamos con un simulador de ingesta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C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módulo de música y los juegos no tienen especificación entregada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C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marco de privacidad de datos de salud está pendiente de definición legal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1C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marketplace transaccional ni atención médica a distancia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41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Metodología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41248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Enfoque tradicional en cascada: flujo secuencial de cinco etapas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1481328" cy="1874520"/>
          </a:xfrm>
          <a:prstGeom prst="roundRect">
            <a:avLst>
              <a:gd name="adj" fmla="val 4938"/>
            </a:avLst>
          </a:prstGeom>
          <a:solidFill>
            <a:srgbClr val="EFF6F6"/>
          </a:solidFill>
          <a:ln w="12700">
            <a:solidFill>
              <a:srgbClr val="EFF6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51560" y="1536192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51560" y="1536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39496" y="2011680"/>
            <a:ext cx="1408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44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y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044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39496" y="2432304"/>
            <a:ext cx="1408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de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requerimientos y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del MVP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1984248" y="2084832"/>
            <a:ext cx="192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176272" y="1371600"/>
            <a:ext cx="1481328" cy="1874520"/>
          </a:xfrm>
          <a:prstGeom prst="roundRect">
            <a:avLst>
              <a:gd name="adj" fmla="val 4938"/>
            </a:avLst>
          </a:prstGeom>
          <a:solidFill>
            <a:srgbClr val="EFF6F6"/>
          </a:solidFill>
          <a:ln w="12700">
            <a:solidFill>
              <a:srgbClr val="EFF6F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24912" y="1536192"/>
            <a:ext cx="384048" cy="38404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2724912" y="1536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212848" y="2011680"/>
            <a:ext cx="1408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44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del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044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2212848" y="2432304"/>
            <a:ext cx="1408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Arquitectura, modelo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entidad-relación y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diagramas UML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3657600" y="2084832"/>
            <a:ext cx="192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3849624" y="1371600"/>
            <a:ext cx="1481328" cy="1874520"/>
          </a:xfrm>
          <a:prstGeom prst="roundRect">
            <a:avLst>
              <a:gd name="adj" fmla="val 4938"/>
            </a:avLst>
          </a:prstGeom>
          <a:solidFill>
            <a:srgbClr val="F7FAFA"/>
          </a:solidFill>
          <a:ln w="12700">
            <a:solidFill>
              <a:srgbClr val="F7FAF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398264" y="1536192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398264" y="1536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886200" y="2011680"/>
            <a:ext cx="1408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44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3886200" y="2432304"/>
            <a:ext cx="1408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fuente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separando las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responsabilidades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5330952" y="2084832"/>
            <a:ext cx="192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5522976" y="1371600"/>
            <a:ext cx="1481328" cy="1874520"/>
          </a:xfrm>
          <a:prstGeom prst="roundRect">
            <a:avLst>
              <a:gd name="adj" fmla="val 4938"/>
            </a:avLst>
          </a:prstGeom>
          <a:solidFill>
            <a:srgbClr val="F7FAFA"/>
          </a:solidFill>
          <a:ln w="12700">
            <a:solidFill>
              <a:srgbClr val="F7FAF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1616" y="1536192"/>
            <a:ext cx="384048" cy="38404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071616" y="1536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559552" y="2011680"/>
            <a:ext cx="1408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44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559552" y="2432304"/>
            <a:ext cx="1408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Unitarias, de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y de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7004304" y="2084832"/>
            <a:ext cx="192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7196328" y="1371600"/>
            <a:ext cx="1481328" cy="1874520"/>
          </a:xfrm>
          <a:prstGeom prst="roundRect">
            <a:avLst>
              <a:gd name="adj" fmla="val 4938"/>
            </a:avLst>
          </a:prstGeom>
          <a:solidFill>
            <a:srgbClr val="F7FAFA"/>
          </a:solidFill>
          <a:ln w="12700">
            <a:solidFill>
              <a:srgbClr val="F7FAF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44968" y="1536192"/>
            <a:ext cx="384048" cy="384048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744968" y="1536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7232904" y="2011680"/>
            <a:ext cx="1408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44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Despliegue y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044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mantenimiento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7232904" y="2432304"/>
            <a:ext cx="140817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Empaquetado Docker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entrega del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técnico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02920" y="3493008"/>
            <a:ext cx="8138160" cy="1051560"/>
          </a:xfrm>
          <a:prstGeom prst="roundRect">
            <a:avLst>
              <a:gd name="adj" fmla="val 6957"/>
            </a:avLst>
          </a:prstGeom>
          <a:solidFill>
            <a:srgbClr val="04414D"/>
          </a:solidFill>
          <a:ln w="12700">
            <a:solidFill>
              <a:srgbClr val="04414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77240" y="363931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cascada?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3063240" y="3602736"/>
            <a:ext cx="5349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CD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requisitos ya vienen documentados por la empresa, la parte central de nuestro trabajo es el modelo de datos —cuyos cambios cuestan migración y no refactorización— y somos tres personas que coincidimos una vez por semana. La rigurosidad documental de la Fase 1 se alinea con este enfoque.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41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Tecnología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207008"/>
            <a:ext cx="2587752" cy="1536192"/>
          </a:xfrm>
          <a:prstGeom prst="roundRect">
            <a:avLst>
              <a:gd name="adj" fmla="val 4762"/>
            </a:avLst>
          </a:prstGeom>
          <a:solidFill>
            <a:srgbClr val="EFF6F6"/>
          </a:solidFill>
          <a:ln w="12700">
            <a:solidFill>
              <a:srgbClr val="EFF6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353312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57276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4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202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Resuelve en un solo motor los datos relacionales y las series de alto volumen del wearable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273552" y="1207008"/>
            <a:ext cx="2587752" cy="1536192"/>
          </a:xfrm>
          <a:prstGeom prst="roundRect">
            <a:avLst>
              <a:gd name="adj" fmla="val 4762"/>
            </a:avLst>
          </a:prstGeom>
          <a:solidFill>
            <a:srgbClr val="EFF6F6"/>
          </a:solidFill>
          <a:ln w="12700">
            <a:solidFill>
              <a:srgbClr val="EFF6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56432" y="1353312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850" dirty="0"/>
          </a:p>
        </p:txBody>
      </p:sp>
      <p:sp>
        <p:nvSpPr>
          <p:cNvPr id="9" name="Text 7"/>
          <p:cNvSpPr txBox="1"/>
          <p:nvPr/>
        </p:nvSpPr>
        <p:spPr>
          <a:xfrm>
            <a:off x="3456432" y="157276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4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(Python)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456432" y="19202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automática de datos y documentación generada desde el código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044184" y="1207008"/>
            <a:ext cx="2587752" cy="1536192"/>
          </a:xfrm>
          <a:prstGeom prst="roundRect">
            <a:avLst>
              <a:gd name="adj" fmla="val 4762"/>
            </a:avLst>
          </a:prstGeom>
          <a:solidFill>
            <a:srgbClr val="EFF6F6"/>
          </a:solidFill>
          <a:ln w="12700">
            <a:solidFill>
              <a:srgbClr val="EFF6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27064" y="1353312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MÓVIL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6227064" y="157276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4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227064" y="1920240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sola base de código para iOS y Android, con acceso a los sensores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2907792"/>
            <a:ext cx="2587752" cy="1536192"/>
          </a:xfrm>
          <a:prstGeom prst="roundRect">
            <a:avLst>
              <a:gd name="adj" fmla="val 4762"/>
            </a:avLst>
          </a:prstGeom>
          <a:solidFill>
            <a:srgbClr val="EFF6F6"/>
          </a:solidFill>
          <a:ln w="12700">
            <a:solidFill>
              <a:srgbClr val="EFF6F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3054096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 LOCAL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327355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4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 (SQLite)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3621024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 que la aplicación siga funcionando sin conexión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273552" y="2907792"/>
            <a:ext cx="2587752" cy="1536192"/>
          </a:xfrm>
          <a:prstGeom prst="roundRect">
            <a:avLst>
              <a:gd name="adj" fmla="val 4762"/>
            </a:avLst>
          </a:prstGeom>
          <a:solidFill>
            <a:srgbClr val="EFF6F6"/>
          </a:solidFill>
          <a:ln w="12700">
            <a:solidFill>
              <a:srgbClr val="EFF6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456432" y="3054096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3456432" y="327355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4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+ Postman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3456432" y="3621024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unitarias, de integración, de carga y de seguridad sobre la API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044184" y="2907792"/>
            <a:ext cx="2587752" cy="1536192"/>
          </a:xfrm>
          <a:prstGeom prst="roundRect">
            <a:avLst>
              <a:gd name="adj" fmla="val 4762"/>
            </a:avLst>
          </a:prstGeom>
          <a:solidFill>
            <a:srgbClr val="EFF6F6"/>
          </a:solidFill>
          <a:ln w="12700">
            <a:solidFill>
              <a:srgbClr val="EFF6F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27064" y="3054096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NUBE Y DESPLIEGUE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6227064" y="327355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44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+ Docker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227064" y="3621024"/>
            <a:ext cx="2240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 Apps y contenedores: mismo entorno en desarrollo y en producción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502920" y="459028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 externos: integración de wearables, notificaciones push, Azure OpenAI para el asistente, y reconocimiento de texto y voz (OCR de recetas y dictado).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4414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Cronograma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841248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Semestre de 18 semanas, dividido en tres fases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502920" y="1298448"/>
            <a:ext cx="2587752" cy="2834640"/>
          </a:xfrm>
          <a:prstGeom prst="roundRect">
            <a:avLst>
              <a:gd name="adj" fmla="val 2827"/>
            </a:avLst>
          </a:prstGeom>
          <a:solidFill>
            <a:srgbClr val="EFF6F6"/>
          </a:solidFill>
          <a:ln w="12700">
            <a:solidFill>
              <a:srgbClr val="EFF6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298448"/>
            <a:ext cx="2587752" cy="566928"/>
          </a:xfrm>
          <a:prstGeom prst="roundRect">
            <a:avLst>
              <a:gd name="adj" fmla="val 12903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37160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1371600"/>
            <a:ext cx="1216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D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 – S4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609344"/>
            <a:ext cx="2221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y requisitos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04088" y="2084832"/>
            <a:ext cx="237744" cy="23774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04088" y="20848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1033272" y="2002536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 de requerimientos (ERS)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04088" y="2679192"/>
            <a:ext cx="237744" cy="23774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04088" y="26791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033272" y="2596896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no funcionales y seguridad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04088" y="3273552"/>
            <a:ext cx="237744" cy="237744"/>
          </a:xfrm>
          <a:prstGeom prst="ellipse">
            <a:avLst/>
          </a:prstGeom>
          <a:solidFill>
            <a:srgbClr val="02809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04088" y="32735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33272" y="3191256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Inicio del diseño de arquitectura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73552" y="1298448"/>
            <a:ext cx="2587752" cy="2834640"/>
          </a:xfrm>
          <a:prstGeom prst="roundRect">
            <a:avLst>
              <a:gd name="adj" fmla="val 2827"/>
            </a:avLst>
          </a:prstGeom>
          <a:solidFill>
            <a:srgbClr val="EFF6F6"/>
          </a:solidFill>
          <a:ln w="12700">
            <a:solidFill>
              <a:srgbClr val="EFF6F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73552" y="1298448"/>
            <a:ext cx="2587752" cy="566928"/>
          </a:xfrm>
          <a:prstGeom prst="roundRect">
            <a:avLst>
              <a:gd name="adj" fmla="val 12903"/>
            </a:avLst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456432" y="137160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462272" y="1371600"/>
            <a:ext cx="1216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D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 – S16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456432" y="1609344"/>
            <a:ext cx="2221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e implementación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474720" y="2084832"/>
            <a:ext cx="237744" cy="23774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474720" y="20848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3803904" y="2002536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datos y diagramas UML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3474720" y="2679192"/>
            <a:ext cx="237744" cy="23774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474720" y="26791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3803904" y="2596896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Backend, API e integración de IA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474720" y="3273552"/>
            <a:ext cx="237744" cy="23774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474720" y="32735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3803904" y="3191256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móvil · Pruebas y certificación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044184" y="1298448"/>
            <a:ext cx="2587752" cy="2834640"/>
          </a:xfrm>
          <a:prstGeom prst="roundRect">
            <a:avLst>
              <a:gd name="adj" fmla="val 2827"/>
            </a:avLst>
          </a:prstGeom>
          <a:solidFill>
            <a:srgbClr val="EFF6F6"/>
          </a:solidFill>
          <a:ln w="12700">
            <a:solidFill>
              <a:srgbClr val="EFF6F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44184" y="1298448"/>
            <a:ext cx="2587752" cy="566928"/>
          </a:xfrm>
          <a:prstGeom prst="roundRect">
            <a:avLst>
              <a:gd name="adj" fmla="val 12903"/>
            </a:avLst>
          </a:prstGeom>
          <a:solidFill>
            <a:srgbClr val="0B6E7F"/>
          </a:solidFill>
          <a:ln w="12700">
            <a:solidFill>
              <a:srgbClr val="0B6E7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227064" y="137160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7232904" y="1371600"/>
            <a:ext cx="1216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CD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S17 – S18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6227064" y="1609344"/>
            <a:ext cx="2221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9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Despliegue y cierre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245352" y="2084832"/>
            <a:ext cx="237744" cy="237744"/>
          </a:xfrm>
          <a:prstGeom prst="ellipse">
            <a:avLst/>
          </a:prstGeom>
          <a:solidFill>
            <a:srgbClr val="0B6E7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245352" y="20848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6574536" y="2002536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Empaquetado Docker y despliegue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6245352" y="2679192"/>
            <a:ext cx="237744" cy="237744"/>
          </a:xfrm>
          <a:prstGeom prst="ellipse">
            <a:avLst/>
          </a:prstGeom>
          <a:solidFill>
            <a:srgbClr val="0B6E7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6245352" y="26791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6574536" y="2596896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técnico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6245352" y="3273552"/>
            <a:ext cx="237744" cy="237744"/>
          </a:xfrm>
          <a:prstGeom prst="ellipse">
            <a:avLst/>
          </a:prstGeom>
          <a:solidFill>
            <a:srgbClr val="0B6E7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245352" y="32735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5" name="Text 43"/>
          <p:cNvSpPr txBox="1"/>
          <p:nvPr/>
        </p:nvSpPr>
        <p:spPr>
          <a:xfrm>
            <a:off x="6574536" y="3191256"/>
            <a:ext cx="1920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2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a la comisión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502920" y="4315968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Dedicación estimada: 7 horas semanales por integrante, más de 300 horas de trabajo del equipo en el semestre.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441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223760" y="3017520"/>
            <a:ext cx="3291840" cy="3291840"/>
          </a:xfrm>
          <a:prstGeom prst="ellipse">
            <a:avLst/>
          </a:prstGeom>
          <a:solidFill>
            <a:srgbClr val="028090">
              <a:alpha val="40000"/>
            </a:srgbClr>
          </a:solidFill>
          <a:ln w="12700">
            <a:solidFill>
              <a:srgbClr val="028090">
                <a:alpha val="0"/>
              </a:srgbClr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65836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Comentario final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13232" y="1472184"/>
            <a:ext cx="310896" cy="310896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13232" y="14721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44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417320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problema real, no un ejercicio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709928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C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millones de personas mayores en Chile y familias que hoy cuidan con herramientas improvisadas.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13232" y="2404872"/>
            <a:ext cx="310896" cy="310896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24048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44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350008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Partimos con base, no de cero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642616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C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empresa entrega documentación técnica y una aplicación construida, pero sin base de datos ni servidor detrás. Eso es lo que construimos.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13232" y="3337560"/>
            <a:ext cx="310896" cy="310896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13232" y="33375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441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282696"/>
            <a:ext cx="6766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dificultades ya están identificadas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575304"/>
            <a:ext cx="6766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C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limitación que detectamos tiene una forma de abordarla definida de antemano.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13232" y="431596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A89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Gracias. Quedamos atentos a sus consultas.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2026-09-06T22:32:19Z</dcterms:created>
  <dcterms:modified xsi:type="dcterms:W3CDTF">2026-09-06T22:32:19Z</dcterms:modified>
</cp:coreProperties>
</file>